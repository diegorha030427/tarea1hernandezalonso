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senica Antiqua" charset="1" panose="00000500000000000000"/>
      <p:regular r:id="rId15"/>
    </p:embeddedFont>
    <p:embeddedFont>
      <p:font typeface="Rugrats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001000" cy="10287000"/>
            <a:chOff x="0" y="0"/>
            <a:chExt cx="210725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72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7259">
                  <a:moveTo>
                    <a:pt x="0" y="0"/>
                  </a:moveTo>
                  <a:lnTo>
                    <a:pt x="2107259" y="0"/>
                  </a:lnTo>
                  <a:lnTo>
                    <a:pt x="21072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3D5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07259" cy="2823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609600"/>
            <a:ext cx="6886575" cy="310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sz="7500" strike="noStrike" u="none">
                <a:solidFill>
                  <a:srgbClr val="D9E2EF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MCP: de copiar y pegar a operar archivos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7810500"/>
            <a:ext cx="6886575" cy="115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9E2EF"/>
                </a:solidFill>
                <a:latin typeface="Rugrats Sans"/>
                <a:ea typeface="Rugrats Sans"/>
                <a:cs typeface="Rugrats Sans"/>
                <a:sym typeface="Rugrats Sans"/>
              </a:rPr>
              <a:t>Hernández Alonso Diego Raymundo · 2022361124 · 7CV4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9E2EF"/>
                </a:solidFill>
                <a:latin typeface="Rugrats Sans"/>
                <a:ea typeface="Rugrats Sans"/>
                <a:cs typeface="Rugrats Sans"/>
                <a:sym typeface="Rugrats Sans"/>
              </a:rPr>
              <a:t>Desarrollo de Aplicaciones Móviles Nativas · ESCOM IPN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9E2EF"/>
                </a:solidFill>
                <a:latin typeface="Rugrats Sans"/>
                <a:ea typeface="Rugrats Sans"/>
                <a:cs typeface="Rugrats Sans"/>
                <a:sym typeface="Rugrats Sans"/>
              </a:rPr>
              <a:t>Especificación MCP consultada: 2026-07-28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010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29700" y="1028700"/>
            <a:ext cx="8229600" cy="82296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850" y="6081326"/>
            <a:ext cx="8324850" cy="3181350"/>
            <a:chOff x="0" y="0"/>
            <a:chExt cx="11099800" cy="4241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0998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Recibe texto y regresa texto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098550"/>
              <a:ext cx="11099800" cy="314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Arquitectura: corre en un servidor remoto, sin canal a mi disco ni llamadas al sistema operativo.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Seguridad: aislamiento, consentimiento del usuario e inyección de instrucciones.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Antes yo era el puente: copiar y pegar.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Los modelos que razonan tampoco tocan archivos: su razonamiento es texto (viene de entrenamiento por refuerzo y más cómputo al responder, no solo del tamaño).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4688702"/>
            <a:ext cx="4931548" cy="49315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600075"/>
            <a:ext cx="14077950" cy="243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00"/>
              </a:lnSpc>
              <a:spcBef>
                <a:spcPct val="0"/>
              </a:spcBef>
            </a:pPr>
            <a:r>
              <a:rPr lang="en-US" sz="8500" strike="noStrike" u="none">
                <a:solidFill>
                  <a:srgbClr val="3E6BA9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El problema: un LLM está aislado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850" y="6081326"/>
            <a:ext cx="8324850" cy="2514600"/>
            <a:chOff x="0" y="0"/>
            <a:chExt cx="11099800" cy="3352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0998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Así quedó en mi compu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098550"/>
              <a:ext cx="11099800" cy="2254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Host: Claude Desktop, la app que uso y la que pide permiso.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Cliente: el conector que el host crea para cada servidor (1 a 1).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Servidor: server-filesystem, un proceso de Node.js local.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El modelo solo propone qué herramienta usar; nunca toca el disco.</a:t>
              </a:r>
            </a:p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Modelo → Host → JSON-RPC 2.0 → Servidor MCP → Disco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4688702"/>
            <a:ext cx="4931548" cy="49315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600075"/>
            <a:ext cx="14077950" cy="243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00"/>
              </a:lnSpc>
              <a:spcBef>
                <a:spcPct val="0"/>
              </a:spcBef>
            </a:pPr>
            <a:r>
              <a:rPr lang="en-US" sz="8500" strike="noStrike" u="none">
                <a:solidFill>
                  <a:srgbClr val="3E6BA9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La solución: host, cliente y servidor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3581400" cy="35814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5143500"/>
            <a:ext cx="3581400" cy="35814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676775" y="6080142"/>
            <a:ext cx="4010025" cy="2567940"/>
            <a:chOff x="0" y="0"/>
            <a:chExt cx="5346700" cy="342392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53467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</a:pPr>
              <a:r>
                <a:rPr lang="en-US" sz="3200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API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08075"/>
              <a:ext cx="5346700" cy="2315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Decide el programador, al escribir el código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Se descubre leyendo documentación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Acoplamiento alto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Cada API con su formato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El permiso no es parte del contrato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N × M integraciones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306425" y="6080141"/>
            <a:ext cx="4010025" cy="2853690"/>
            <a:chOff x="0" y="0"/>
            <a:chExt cx="5346700" cy="380492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53467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</a:pPr>
              <a:r>
                <a:rPr lang="en-US" sz="3200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MCP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08075"/>
              <a:ext cx="5346700" cy="26968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Decide el modelo, al momento, según lo que pide el usuario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Se descubre con tools/list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Acoplamiento bajo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Siempre JSON-RPC 2.0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El host debe pedir consentimiento</a:t>
              </a:r>
            </a:p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sz="165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N + M piezas · protocolo abierto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6750" y="609600"/>
            <a:ext cx="1407795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0"/>
              </a:lnSpc>
              <a:spcBef>
                <a:spcPct val="0"/>
              </a:spcBef>
            </a:pPr>
            <a:r>
              <a:rPr lang="en-US" sz="6750" strike="noStrike" u="none">
                <a:solidFill>
                  <a:srgbClr val="3E6BA9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API vs MCP: MCP no reemplaza a las APIs, las envuelve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19850" y="6081326"/>
            <a:ext cx="8324850" cy="2735580"/>
            <a:chOff x="0" y="0"/>
            <a:chExt cx="11099800" cy="36474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110998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Qué ofrece cada lado y cómo viaja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098550"/>
              <a:ext cx="11099800" cy="2548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Servidor: tools (acciones que decide el modelo), resources (datos por URI que adjunta la app) y prompts (plantillas que elige el usuario).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Cliente: elicitation (pedirle datos al usuario). Roots y sampling quedaron obsoletos en 2026-07-28.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stdio: servidor local como proceso hijo (el que uso).</a:t>
              </a:r>
            </a:p>
            <a:p>
              <a:pPr algn="l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Streamable HTTP: servidor remoto por POST, con OAuth 2.1 y ya sin sesiones.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4688702"/>
            <a:ext cx="4931548" cy="49315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600075"/>
            <a:ext cx="14077950" cy="2435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00"/>
              </a:lnSpc>
              <a:spcBef>
                <a:spcPct val="0"/>
              </a:spcBef>
            </a:pPr>
            <a:r>
              <a:rPr lang="en-US" sz="8500">
                <a:solidFill>
                  <a:srgbClr val="3E6BA9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Primitivas y Transportes en MCP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734675" y="4857750"/>
            <a:ext cx="6886575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C3D5A"/>
                </a:solidFill>
                <a:latin typeface="Rugrats Sans"/>
                <a:ea typeface="Rugrats Sans"/>
                <a:cs typeface="Rugrats Sans"/>
                <a:sym typeface="Rugrats Sans"/>
              </a:rPr>
              <a:t>14 herramientas: 10 de lectura y 4 de escritura (write, edit, create directory, move) que requieren aprobación.</a:t>
            </a:r>
          </a:p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C3D5A"/>
                </a:solidFill>
                <a:latin typeface="Rugrats Sans"/>
                <a:ea typeface="Rugrats Sans"/>
                <a:cs typeface="Rugrats Sans"/>
                <a:sym typeface="Rugrats Sans"/>
              </a:rPr>
              <a:t>No tiene herramienta para borrar, y search_files busca por nombre, no por contenido.</a:t>
            </a:r>
          </a:p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C3D5A"/>
                </a:solidFill>
                <a:latin typeface="Rugrats Sans"/>
                <a:ea typeface="Rugrats Sans"/>
                <a:cs typeface="Rugrats Sans"/>
                <a:sym typeface="Rugrats Sans"/>
              </a:rPr>
              <a:t>Solo entra a C:\dev\Tarea1HernandezAlonso\sandbox.</a:t>
            </a:r>
          </a:p>
          <a:p>
            <a:pPr algn="l" marL="0" indent="0" lvl="0">
              <a:lnSpc>
                <a:spcPts val="2625"/>
              </a:lnSpc>
              <a:spcBef>
                <a:spcPct val="0"/>
              </a:spcBef>
            </a:pPr>
            <a:r>
              <a:rPr lang="en-US" sz="1875" strike="noStrike" u="none">
                <a:solidFill>
                  <a:srgbClr val="1C3D5A"/>
                </a:solidFill>
                <a:latin typeface="Rugrats Sans"/>
                <a:ea typeface="Rugrats Sans"/>
                <a:cs typeface="Rugrats Sans"/>
                <a:sym typeface="Rugrats Sans"/>
              </a:rPr>
              <a:t>En cada llamada normaliza la ruta (resuelve ..), revisa que empiece con la carpeta permitida y resuelve symlinks.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34675" y="666750"/>
            <a:ext cx="6886575" cy="3567430"/>
            <a:chOff x="0" y="0"/>
            <a:chExt cx="9182100" cy="475657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9182100" cy="3224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500"/>
                </a:lnSpc>
                <a:spcBef>
                  <a:spcPct val="0"/>
                </a:spcBef>
              </a:pPr>
              <a:r>
                <a:rPr lang="en-US" sz="85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Servidor de archivos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52825"/>
              <a:ext cx="9182100" cy="1203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No es parte del protocolo: es un servidor de referencia más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00075"/>
            <a:ext cx="6886575" cy="3511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00"/>
              </a:lnSpc>
              <a:spcBef>
                <a:spcPct val="0"/>
              </a:spcBef>
            </a:pPr>
            <a:r>
              <a:rPr lang="en-US" sz="8500">
                <a:solidFill>
                  <a:srgbClr val="3E6BA9"/>
                </a:solidFill>
                <a:latin typeface="Arsenica Antiqua"/>
                <a:ea typeface="Arsenica Antiqua"/>
                <a:cs typeface="Arsenica Antiqua"/>
                <a:sym typeface="Arsenica Antiqua"/>
              </a:rPr>
              <a:t>Demo en vivo: Operaciones de archivos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6750" y="872490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296400" y="1562100"/>
            <a:ext cx="6886575" cy="1847850"/>
            <a:chOff x="0" y="0"/>
            <a:chExt cx="9182100" cy="2463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91821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Las 5 operaciones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098550"/>
              <a:ext cx="9182100" cy="1365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Listar (list_directory), leer notas.md, crear evidencia.md (write_file), modificar pendientes.txt (edit_file) y buscar **/*.csv (search_files).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96400" y="4248150"/>
            <a:ext cx="6886575" cy="1514475"/>
            <a:chOff x="0" y="0"/>
            <a:chExt cx="9182100" cy="20193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28575"/>
              <a:ext cx="91821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Prueba del límite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098550"/>
              <a:ext cx="9182100" cy="920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Primero list_allowed_directories (solo el sandbox). Luego read_text_file sobre README.md, que está una carpeta arriba.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6934200"/>
            <a:ext cx="6886575" cy="1847850"/>
            <a:chOff x="0" y="0"/>
            <a:chExt cx="9182100" cy="246380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28575"/>
              <a:ext cx="91821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Access denied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98550"/>
              <a:ext cx="9182100" cy="1365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5"/>
                </a:lnSpc>
                <a:spcBef>
                  <a:spcPct val="0"/>
                </a:spcBef>
              </a:pPr>
              <a:r>
                <a:rPr lang="en-US" sz="1875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"path outside allowed directories". El modelo sí lo intentó; el que lo bloqueó fue el servidor. Con sandbox\..\README.md pasó lo mismo.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297930"/>
            <a:ext cx="4010025" cy="2537318"/>
            <a:chOff x="0" y="0"/>
            <a:chExt cx="5346700" cy="33830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82226"/>
              <a:ext cx="5346700" cy="22008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1857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Claude Desktop solo acepta JSON Schema 2020-12 (especificación 2026-07-28) y el servidor manda draft-07. Probé de la versión 2025.3.28 a la 2026.8.31: todas igual.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28575"/>
              <a:ext cx="5346700" cy="577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2"/>
                </a:lnSpc>
              </a:pPr>
              <a:r>
                <a:rPr lang="en-US" sz="2702">
                  <a:solidFill>
                    <a:srgbClr val="1C3D5A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Error de Schema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6297930"/>
            <a:ext cx="4010025" cy="2213468"/>
            <a:chOff x="0" y="0"/>
            <a:chExt cx="5346700" cy="295129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82226"/>
              <a:ext cx="5346700" cy="17690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1857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Hice un adaptador en Node.js entre Claude Desktop y el servidor. Solo le quita la etiqueta $schema a tools/list; el bloqueo de rutas sigue igual.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5346700" cy="577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2"/>
                </a:lnSpc>
                <a:spcBef>
                  <a:spcPct val="0"/>
                </a:spcBef>
              </a:pPr>
              <a:r>
                <a:rPr lang="en-US" sz="2702" strike="noStrike" u="none">
                  <a:solidFill>
                    <a:srgbClr val="1C3D5A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Mi solución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297930"/>
            <a:ext cx="4010025" cy="1889618"/>
            <a:chOff x="0" y="0"/>
            <a:chExt cx="5346700" cy="251949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182226"/>
              <a:ext cx="5346700" cy="13372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0"/>
                </a:lnSpc>
                <a:spcBef>
                  <a:spcPct val="0"/>
                </a:spcBef>
              </a:pPr>
              <a:r>
                <a:rPr lang="en-US" sz="1857" strike="noStrike" u="none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Mi servidor en Python (SDK mcp 2.2.0) no necesitó el adaptador: 2 herramientas, 1 recurso y 1 prompt.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5346700" cy="5772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2"/>
                </a:lnSpc>
                <a:spcBef>
                  <a:spcPct val="0"/>
                </a:spcBef>
              </a:pPr>
              <a:r>
                <a:rPr lang="en-US" sz="2702" strike="noStrike" u="none">
                  <a:solidFill>
                    <a:srgbClr val="1C3D5A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Servidor propio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666750"/>
            <a:ext cx="14077950" cy="3507105"/>
            <a:chOff x="0" y="0"/>
            <a:chExt cx="18770600" cy="46761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18770600" cy="32247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500"/>
                </a:lnSpc>
                <a:spcBef>
                  <a:spcPct val="0"/>
                </a:spcBef>
              </a:pPr>
              <a:r>
                <a:rPr lang="en-US" sz="85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El problema que me encontré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784600"/>
              <a:ext cx="187706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4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La especificación cambió y el servidor no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3543300" y="1576388"/>
            <a:ext cx="2571750" cy="0"/>
          </a:xfrm>
          <a:prstGeom prst="line">
            <a:avLst/>
          </a:prstGeom>
          <a:ln cap="flat" w="28575">
            <a:solidFill>
              <a:srgbClr val="1C3D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543300" y="2457450"/>
            <a:ext cx="11201400" cy="4786630"/>
            <a:chOff x="0" y="0"/>
            <a:chExt cx="14935200" cy="638217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28575"/>
              <a:ext cx="14935200" cy="67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0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3E6BA9"/>
                  </a:solidFill>
                  <a:latin typeface="Arsenica Antiqua"/>
                  <a:ea typeface="Arsenica Antiqua"/>
                  <a:cs typeface="Arsenica Antiqua"/>
                  <a:sym typeface="Arsenica Antiqua"/>
                </a:rPr>
                <a:t>Seguridad y conclusión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60450"/>
              <a:ext cx="14935200" cy="5321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E6BA9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Riesgos:</a:t>
              </a:r>
              <a:r>
                <a:rPr lang="en-US" sz="2799">
                  <a:solidFill>
                    <a:srgbClr val="3E6BA9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 inyección de instrucciones por archivos, salir de la carpeta, sobrescribir sin querer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E6BA9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Mitigaciones:</a:t>
              </a:r>
              <a:r>
                <a:rPr lang="en-US" sz="2799">
                  <a:solidFill>
                    <a:srgbClr val="3E6BA9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 Carpeta limitada, aprobación humana, versión fija, todo en Git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El límite real está en el código del servidor, no en la buena voluntad del modelo.</a:t>
              </a:r>
            </a:p>
            <a:p>
              <a:pPr algn="l" marL="604519" indent="-302260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1C3D5A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MCP redefine quién integra: el servidor se describe, el modelo decide y el usuario aprueba.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00225" cy="10287000"/>
            <a:chOff x="0" y="0"/>
            <a:chExt cx="604063" cy="34517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4063" cy="3451787"/>
            </a:xfrm>
            <a:custGeom>
              <a:avLst/>
              <a:gdLst/>
              <a:ahLst/>
              <a:cxnLst/>
              <a:rect r="r" b="b" t="t" l="l"/>
              <a:pathLst>
                <a:path h="3451787" w="604063">
                  <a:moveTo>
                    <a:pt x="0" y="0"/>
                  </a:moveTo>
                  <a:lnTo>
                    <a:pt x="604063" y="0"/>
                  </a:lnTo>
                  <a:lnTo>
                    <a:pt x="604063" y="3451787"/>
                  </a:lnTo>
                  <a:lnTo>
                    <a:pt x="0" y="3451787"/>
                  </a:lnTo>
                  <a:close/>
                </a:path>
              </a:pathLst>
            </a:custGeom>
            <a:solidFill>
              <a:srgbClr val="1C3D5A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MCP: de copiar y pegar</dc:description>
  <dc:identifier>DAHV5oLgUic</dc:identifier>
  <dcterms:modified xsi:type="dcterms:W3CDTF">2011-08-01T06:04:30Z</dcterms:modified>
  <cp:revision>1</cp:revision>
  <dc:title>Presentación - MCP: de copiar y pegar</dc:title>
</cp:coreProperties>
</file>